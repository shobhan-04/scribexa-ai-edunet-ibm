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65" r:id="rId9"/>
    <p:sldId id="266" r:id="rId10"/>
    <p:sldId id="267" r:id="rId11"/>
    <p:sldId id="2146847059" r:id="rId12"/>
    <p:sldId id="2146847061" r:id="rId13"/>
    <p:sldId id="2146847060" r:id="rId14"/>
    <p:sldId id="268" r:id="rId15"/>
    <p:sldId id="2146847055" r:id="rId16"/>
    <p:sldId id="269" r:id="rId17"/>
    <p:sldId id="2146847058"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9" d="100"/>
          <a:sy n="89" d="100"/>
        </p:scale>
        <p:origin x="-403" y="2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7E254F1-4415-47BF-9E91-C5D4B9A33350}" type="slidenum">
              <a:rPr lang="en-IN" smtClean="0"/>
              <a:t>3</a:t>
            </a:fld>
            <a:endParaRPr lang="en-IN"/>
          </a:p>
        </p:txBody>
      </p:sp>
    </p:spTree>
    <p:extLst>
      <p:ext uri="{BB962C8B-B14F-4D97-AF65-F5344CB8AC3E}">
        <p14:creationId xmlns:p14="http://schemas.microsoft.com/office/powerpoint/2010/main" val="1848127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6/18/2026</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6/18/2026</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6/18/2026</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6/18/2026</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ocs.python.org/" TargetMode="External"/><Relationship Id="rId3" Type="http://schemas.openxmlformats.org/officeDocument/2006/relationships/hyperlink" Target="https://huggingface.co/docs" TargetMode="External"/><Relationship Id="rId7" Type="http://schemas.openxmlformats.org/officeDocument/2006/relationships/hyperlink" Target="https://github.com/yt-dlp/yt-dlp" TargetMode="External"/><Relationship Id="rId2" Type="http://schemas.openxmlformats.org/officeDocument/2006/relationships/hyperlink" Target="https://github.com/openai/whisper" TargetMode="External"/><Relationship Id="rId1" Type="http://schemas.openxmlformats.org/officeDocument/2006/relationships/slideLayout" Target="../slideLayouts/slideLayout2.xml"/><Relationship Id="rId6" Type="http://schemas.openxmlformats.org/officeDocument/2006/relationships/hyperlink" Target="https://pypi.org/project/pytesseract" TargetMode="External"/><Relationship Id="rId5" Type="http://schemas.openxmlformats.org/officeDocument/2006/relationships/hyperlink" Target="https://pymupdf.readthedocs.io/" TargetMode="External"/><Relationship Id="rId10" Type="http://schemas.openxmlformats.org/officeDocument/2006/relationships/hyperlink" Target="https://pillow.readthedocs.io/" TargetMode="External"/><Relationship Id="rId4" Type="http://schemas.openxmlformats.org/officeDocument/2006/relationships/hyperlink" Target="https://docs.streamlit.io/" TargetMode="External"/><Relationship Id="rId9" Type="http://schemas.openxmlformats.org/officeDocument/2006/relationships/hyperlink" Target="https://www.sqlite.org/docs.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scribexa-ai-landing-page.lovable.app/" TargetMode="External"/><Relationship Id="rId2" Type="http://schemas.openxmlformats.org/officeDocument/2006/relationships/hyperlink" Target="https://scribexa-ai-edunet-ibm.streamlit.app/" TargetMode="External"/><Relationship Id="rId1" Type="http://schemas.openxmlformats.org/officeDocument/2006/relationships/slideLayout" Target="../slideLayouts/slideLayout2.xml"/><Relationship Id="rId4" Type="http://schemas.openxmlformats.org/officeDocument/2006/relationships/hyperlink" Target="https://github.com/Shobhan-04/scribexa-ai-edunet-ib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Lecture VOICE-TO-NOTES GENERATOR</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smtClean="0">
                <a:solidFill>
                  <a:schemeClr val="accent1">
                    <a:lumMod val="75000"/>
                  </a:schemeClr>
                </a:solidFill>
                <a:latin typeface="Arial"/>
                <a:cs typeface="Arial"/>
              </a:rPr>
              <a:t>SCRIBEXA AI </a:t>
            </a:r>
            <a:endParaRPr lang="en-US" sz="3200" b="1" dirty="0">
              <a:solidFill>
                <a:schemeClr val="accent1">
                  <a:lumMod val="75000"/>
                </a:schemeClr>
              </a:solidFill>
              <a:latin typeface="Arial"/>
              <a:cs typeface="Arial"/>
            </a:endParaRPr>
          </a:p>
        </p:txBody>
      </p:sp>
      <p:sp>
        <p:nvSpPr>
          <p:cNvPr id="4" name="TextBox 3"/>
          <p:cNvSpPr txBox="1"/>
          <p:nvPr/>
        </p:nvSpPr>
        <p:spPr>
          <a:xfrm>
            <a:off x="709302" y="3452502"/>
            <a:ext cx="10473078" cy="1631216"/>
          </a:xfrm>
          <a:prstGeom prst="rect">
            <a:avLst/>
          </a:prstGeom>
          <a:solidFill>
            <a:schemeClr val="accent6">
              <a:lumMod val="20000"/>
              <a:lumOff val="80000"/>
            </a:schemeClr>
          </a:solid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a:t>
            </a:r>
            <a:r>
              <a:rPr lang="en-US" sz="2000" b="1" dirty="0" smtClean="0">
                <a:solidFill>
                  <a:schemeClr val="accent1">
                    <a:lumMod val="75000"/>
                  </a:schemeClr>
                </a:solidFill>
                <a:latin typeface="Arial"/>
                <a:cs typeface="Arial"/>
              </a:rPr>
              <a:t>Name – SHOBHAN SATPATHY</a:t>
            </a:r>
            <a:endParaRPr lang="en-US" sz="2000" b="1" dirty="0">
              <a:solidFill>
                <a:schemeClr val="accent1">
                  <a:lumMod val="75000"/>
                </a:schemeClr>
              </a:solidFill>
              <a:latin typeface="Arial"/>
              <a:cs typeface="Arial"/>
            </a:endParaRPr>
          </a:p>
          <a:p>
            <a:pPr marL="457200" indent="-457200">
              <a:buAutoNum type="arabicPeriod"/>
            </a:pPr>
            <a:r>
              <a:rPr lang="en-US" sz="2000" b="1" dirty="0">
                <a:solidFill>
                  <a:schemeClr val="accent1">
                    <a:lumMod val="75000"/>
                  </a:schemeClr>
                </a:solidFill>
                <a:latin typeface="Arial"/>
                <a:cs typeface="Arial"/>
              </a:rPr>
              <a:t>College Name-  </a:t>
            </a:r>
            <a:r>
              <a:rPr lang="en-US" sz="2000" b="1" dirty="0" err="1" smtClean="0">
                <a:solidFill>
                  <a:schemeClr val="accent1">
                    <a:lumMod val="75000"/>
                  </a:schemeClr>
                </a:solidFill>
                <a:latin typeface="Arial"/>
                <a:cs typeface="Arial"/>
              </a:rPr>
              <a:t>Siksha</a:t>
            </a:r>
            <a:r>
              <a:rPr lang="en-US" sz="2000" b="1" dirty="0" smtClean="0">
                <a:solidFill>
                  <a:schemeClr val="accent1">
                    <a:lumMod val="75000"/>
                  </a:schemeClr>
                </a:solidFill>
                <a:latin typeface="Arial"/>
                <a:cs typeface="Arial"/>
              </a:rPr>
              <a:t> ‘O’ </a:t>
            </a:r>
            <a:r>
              <a:rPr lang="en-US" sz="2000" b="1" dirty="0" err="1" smtClean="0">
                <a:solidFill>
                  <a:schemeClr val="accent1">
                    <a:lumMod val="75000"/>
                  </a:schemeClr>
                </a:solidFill>
                <a:latin typeface="Arial"/>
                <a:cs typeface="Arial"/>
              </a:rPr>
              <a:t>Anusandhan</a:t>
            </a:r>
            <a:r>
              <a:rPr lang="en-US" sz="2000" b="1" dirty="0" smtClean="0">
                <a:solidFill>
                  <a:schemeClr val="accent1">
                    <a:lumMod val="75000"/>
                  </a:schemeClr>
                </a:solidFill>
                <a:latin typeface="Arial"/>
                <a:cs typeface="Arial"/>
              </a:rPr>
              <a:t> University – Institute of Technical Education and Research, Bhubaneswar, </a:t>
            </a:r>
            <a:r>
              <a:rPr lang="en-US" sz="2000" b="1" dirty="0" err="1" smtClean="0">
                <a:solidFill>
                  <a:schemeClr val="accent1">
                    <a:lumMod val="75000"/>
                  </a:schemeClr>
                </a:solidFill>
                <a:latin typeface="Arial"/>
                <a:cs typeface="Arial"/>
              </a:rPr>
              <a:t>Odisha</a:t>
            </a:r>
            <a:endParaRPr lang="en-US" sz="2000" b="1" dirty="0">
              <a:solidFill>
                <a:schemeClr val="accent1">
                  <a:lumMod val="75000"/>
                </a:schemeClr>
              </a:solidFill>
              <a:latin typeface="Arial"/>
              <a:cs typeface="Arial"/>
            </a:endParaRPr>
          </a:p>
          <a:p>
            <a:pPr marL="457200" indent="-457200">
              <a:buAutoNum type="arabicPeriod"/>
            </a:pPr>
            <a:r>
              <a:rPr lang="en-US" sz="2000" b="1" dirty="0" smtClean="0">
                <a:solidFill>
                  <a:schemeClr val="accent1">
                    <a:lumMod val="75000"/>
                  </a:schemeClr>
                </a:solidFill>
                <a:latin typeface="Arial"/>
                <a:cs typeface="Arial"/>
              </a:rPr>
              <a:t>Department – Department of CSE</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endParaRPr lang="en-US" sz="2000" b="1" dirty="0" smtClean="0">
              <a:latin typeface="Arial"/>
              <a:ea typeface="+mn-lt"/>
              <a:cs typeface="Arial"/>
            </a:endParaRPr>
          </a:p>
          <a:p>
            <a:r>
              <a:rPr lang="en-US" sz="2000" b="1" dirty="0" smtClean="0">
                <a:latin typeface="Arial"/>
                <a:ea typeface="+mn-lt"/>
                <a:cs typeface="Arial"/>
              </a:rPr>
              <a:t>Proposed </a:t>
            </a:r>
            <a:r>
              <a:rPr lang="en-US" sz="2000" b="1" dirty="0">
                <a:latin typeface="Arial"/>
                <a:ea typeface="+mn-lt"/>
                <a:cs typeface="Arial"/>
              </a:rPr>
              <a:t>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1400" dirty="0"/>
              <a:t> </a:t>
            </a:r>
            <a:endParaRPr lang="en-IN" sz="1400" dirty="0"/>
          </a:p>
        </p:txBody>
      </p:sp>
      <p:sp>
        <p:nvSpPr>
          <p:cNvPr id="3" name="TextBox 2"/>
          <p:cNvSpPr txBox="1"/>
          <p:nvPr/>
        </p:nvSpPr>
        <p:spPr>
          <a:xfrm>
            <a:off x="948583" y="1273321"/>
            <a:ext cx="10066946" cy="3600986"/>
          </a:xfrm>
          <a:prstGeom prst="rect">
            <a:avLst/>
          </a:prstGeom>
          <a:noFill/>
        </p:spPr>
        <p:txBody>
          <a:bodyPr wrap="square" rtlCol="0">
            <a:spAutoFit/>
          </a:bodyPr>
          <a:lstStyle/>
          <a:p>
            <a:r>
              <a:rPr lang="en-IN" dirty="0" smtClean="0"/>
              <a:t>                                                 </a:t>
            </a:r>
          </a:p>
          <a:p>
            <a:r>
              <a:rPr lang="en-IN" sz="3000" dirty="0"/>
              <a:t> </a:t>
            </a:r>
            <a:r>
              <a:rPr lang="en-IN" sz="3000" dirty="0" smtClean="0"/>
              <a:t>                         </a:t>
            </a:r>
            <a:r>
              <a:rPr lang="en-IN" sz="3000" b="1" dirty="0" smtClean="0"/>
              <a:t>Lecture </a:t>
            </a:r>
            <a:r>
              <a:rPr lang="en-IN" sz="3000" b="1" dirty="0"/>
              <a:t>Voice-to-Notes </a:t>
            </a:r>
            <a:r>
              <a:rPr lang="en-IN" sz="3000" b="1" dirty="0" smtClean="0"/>
              <a:t>Generator</a:t>
            </a:r>
          </a:p>
          <a:p>
            <a:endParaRPr lang="en-US" sz="3000" dirty="0" smtClean="0"/>
          </a:p>
          <a:p>
            <a:r>
              <a:rPr lang="en-US" sz="3000" dirty="0"/>
              <a:t>Students frequently miss key points during lectures as it’s difficult to listen and write notes simultaneously. A solution is required that can convert spoken lectures into text using speech to-text AI and then summarize the content into clear study notes, quizzes, or flashcards using generative AI.</a:t>
            </a:r>
            <a:endParaRPr lang="en-IN" sz="30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4" name="TextBox 3"/>
          <p:cNvSpPr txBox="1"/>
          <p:nvPr/>
        </p:nvSpPr>
        <p:spPr>
          <a:xfrm>
            <a:off x="316194" y="1580972"/>
            <a:ext cx="44082333" cy="4247317"/>
          </a:xfrm>
          <a:prstGeom prst="rect">
            <a:avLst/>
          </a:prstGeom>
          <a:noFill/>
        </p:spPr>
        <p:txBody>
          <a:bodyPr wrap="square" rtlCol="0">
            <a:spAutoFit/>
          </a:bodyPr>
          <a:lstStyle/>
          <a:p>
            <a:r>
              <a:rPr lang="en-US" sz="2800" b="1" dirty="0" err="1"/>
              <a:t>Scribexa</a:t>
            </a:r>
            <a:r>
              <a:rPr lang="en-US" sz="2800" b="1" dirty="0"/>
              <a:t> AI </a:t>
            </a:r>
            <a:r>
              <a:rPr lang="en-US" sz="2800" dirty="0"/>
              <a:t>is an intelligent study assistant designed to help students </a:t>
            </a:r>
            <a:r>
              <a:rPr lang="en-US" sz="2800" dirty="0" smtClean="0"/>
              <a:t>convert </a:t>
            </a:r>
          </a:p>
          <a:p>
            <a:r>
              <a:rPr lang="en-US" sz="2800" b="1" dirty="0" smtClean="0"/>
              <a:t>educational </a:t>
            </a:r>
            <a:r>
              <a:rPr lang="en-US" sz="2800" b="1" dirty="0"/>
              <a:t>content </a:t>
            </a:r>
            <a:r>
              <a:rPr lang="en-US" sz="2800" dirty="0"/>
              <a:t>into </a:t>
            </a:r>
            <a:r>
              <a:rPr lang="en-US" sz="2800" b="1" dirty="0"/>
              <a:t>structured learning </a:t>
            </a:r>
            <a:r>
              <a:rPr lang="en-US" sz="2800" b="1" dirty="0" smtClean="0"/>
              <a:t>materials</a:t>
            </a:r>
            <a:r>
              <a:rPr lang="en-US" sz="2800" dirty="0"/>
              <a:t>. The </a:t>
            </a:r>
            <a:r>
              <a:rPr lang="en-US" sz="2800" dirty="0" smtClean="0"/>
              <a:t>system </a:t>
            </a:r>
            <a:r>
              <a:rPr lang="en-US" sz="2800" dirty="0"/>
              <a:t>accepts </a:t>
            </a:r>
            <a:endParaRPr lang="en-US" sz="2800" dirty="0" smtClean="0"/>
          </a:p>
          <a:p>
            <a:r>
              <a:rPr lang="en-US" sz="2800" dirty="0" smtClean="0"/>
              <a:t>multiple </a:t>
            </a:r>
            <a:r>
              <a:rPr lang="en-US" sz="2800" dirty="0"/>
              <a:t>input formats such as </a:t>
            </a:r>
            <a:r>
              <a:rPr lang="en-US" sz="2800" b="1" i="1" dirty="0"/>
              <a:t>audio lectures, </a:t>
            </a:r>
            <a:r>
              <a:rPr lang="en-US" sz="2800" b="1" i="1" dirty="0" smtClean="0"/>
              <a:t>PDF documents</a:t>
            </a:r>
            <a:r>
              <a:rPr lang="en-US" sz="2800" b="1" i="1" dirty="0"/>
              <a:t>, </a:t>
            </a:r>
            <a:r>
              <a:rPr lang="en-US" sz="2800" b="1" i="1" dirty="0" smtClean="0"/>
              <a:t>images</a:t>
            </a:r>
          </a:p>
          <a:p>
            <a:r>
              <a:rPr lang="en-US" sz="2800" b="1" i="1" dirty="0" smtClean="0"/>
              <a:t>containing handwritten </a:t>
            </a:r>
            <a:r>
              <a:rPr lang="en-US" sz="2800" b="1" i="1" dirty="0"/>
              <a:t>or printed notes, and </a:t>
            </a:r>
            <a:r>
              <a:rPr lang="en-US" sz="2800" b="1" i="1" dirty="0" smtClean="0"/>
              <a:t>YouTube </a:t>
            </a:r>
            <a:r>
              <a:rPr lang="en-US" sz="2800" b="1" i="1" dirty="0"/>
              <a:t>lecture links. </a:t>
            </a:r>
            <a:r>
              <a:rPr lang="en-US" sz="2800" dirty="0"/>
              <a:t>It </a:t>
            </a:r>
            <a:endParaRPr lang="en-US" sz="2800" dirty="0" smtClean="0"/>
          </a:p>
          <a:p>
            <a:r>
              <a:rPr lang="en-US" sz="2800" dirty="0" smtClean="0"/>
              <a:t>processes </a:t>
            </a:r>
            <a:r>
              <a:rPr lang="en-US" sz="2800" dirty="0"/>
              <a:t>the content using </a:t>
            </a:r>
            <a:r>
              <a:rPr lang="en-US" sz="2800" b="1" dirty="0"/>
              <a:t>AI-powered </a:t>
            </a:r>
            <a:r>
              <a:rPr lang="en-US" sz="2800" b="1" dirty="0" smtClean="0"/>
              <a:t>technologies </a:t>
            </a:r>
            <a:r>
              <a:rPr lang="en-US" sz="2800" dirty="0"/>
              <a:t>and </a:t>
            </a:r>
            <a:r>
              <a:rPr lang="en-US" sz="2800" dirty="0" smtClean="0"/>
              <a:t>automatically </a:t>
            </a:r>
          </a:p>
          <a:p>
            <a:r>
              <a:rPr lang="en-US" sz="2800" dirty="0" smtClean="0"/>
              <a:t>generates </a:t>
            </a:r>
            <a:r>
              <a:rPr lang="en-US" sz="2800" b="1" i="1" dirty="0"/>
              <a:t>study notes, flashcards, </a:t>
            </a:r>
            <a:r>
              <a:rPr lang="en-US" sz="2800" b="1" i="1" dirty="0" smtClean="0"/>
              <a:t>and multiple-choice </a:t>
            </a:r>
            <a:r>
              <a:rPr lang="en-US" sz="2800" b="1" i="1" dirty="0"/>
              <a:t>questions (MCQs).</a:t>
            </a:r>
          </a:p>
          <a:p>
            <a:endParaRPr lang="en-US" sz="2800" dirty="0"/>
          </a:p>
          <a:p>
            <a:r>
              <a:rPr lang="en-US" sz="2800" dirty="0" smtClean="0"/>
              <a:t>The </a:t>
            </a:r>
            <a:r>
              <a:rPr lang="en-US" sz="2800" dirty="0"/>
              <a:t>objective of the system is to reduce the time students spend on </a:t>
            </a:r>
            <a:r>
              <a:rPr lang="en-US" sz="2800" dirty="0" smtClean="0"/>
              <a:t>manual </a:t>
            </a:r>
          </a:p>
          <a:p>
            <a:r>
              <a:rPr lang="en-US" sz="2800" dirty="0" smtClean="0"/>
              <a:t>note-taking </a:t>
            </a:r>
            <a:r>
              <a:rPr lang="en-US" sz="2800" dirty="0"/>
              <a:t>and make learning more efficient, </a:t>
            </a:r>
            <a:r>
              <a:rPr lang="en-US" sz="2800" dirty="0" smtClean="0"/>
              <a:t>interactive</a:t>
            </a:r>
            <a:r>
              <a:rPr lang="en-US" sz="2800" dirty="0"/>
              <a:t>, and accessible.</a:t>
            </a:r>
          </a:p>
          <a:p>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 xmlns:a16="http://schemas.microsoft.com/office/drawing/2014/main" id="{0614F04E-6F49-1ECF-2A47-F63BBF04A3AC}"/>
              </a:ext>
            </a:extLst>
          </p:cNvPr>
          <p:cNvSpPr>
            <a:spLocks noGrp="1" noChangeArrowheads="1"/>
          </p:cNvSpPr>
          <p:nvPr>
            <p:ph idx="1"/>
          </p:nvPr>
        </p:nvSpPr>
        <p:spPr bwMode="auto">
          <a:xfrm>
            <a:off x="128187" y="1267198"/>
            <a:ext cx="12063813" cy="542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t>Programming </a:t>
            </a:r>
            <a:r>
              <a:rPr lang="en-IN" sz="1800" b="1" dirty="0" err="1"/>
              <a:t>Langurage</a:t>
            </a:r>
            <a:r>
              <a:rPr lang="en-IN" sz="1800" b="1" dirty="0"/>
              <a:t> Used </a:t>
            </a:r>
            <a:r>
              <a:rPr lang="en-IN" sz="1800" dirty="0"/>
              <a:t>: Python 3.14 (64 bit</a:t>
            </a:r>
            <a:r>
              <a:rPr lang="en-IN" sz="1800" dirty="0" smtClean="0"/>
              <a:t>)</a:t>
            </a:r>
            <a:endParaRPr lang="en-IN" sz="1800" b="1" dirty="0" smtClean="0"/>
          </a:p>
          <a:p>
            <a:r>
              <a:rPr lang="en-IN" sz="1800" b="1" dirty="0" smtClean="0"/>
              <a:t>Frontend : </a:t>
            </a:r>
            <a:r>
              <a:rPr lang="en-IN" sz="1800" dirty="0" err="1" smtClean="0"/>
              <a:t>Streamlit</a:t>
            </a:r>
            <a:r>
              <a:rPr lang="en-IN" sz="1800" dirty="0" smtClean="0"/>
              <a:t>- These </a:t>
            </a:r>
            <a:r>
              <a:rPr lang="en-IN" sz="1800" dirty="0"/>
              <a:t>frontend provides a simple and user-friendly interface for uploading files and viewing generated study materials</a:t>
            </a:r>
            <a:r>
              <a:rPr lang="en-IN" sz="1800" dirty="0" smtClean="0"/>
              <a:t>.</a:t>
            </a:r>
          </a:p>
          <a:p>
            <a:r>
              <a:rPr lang="en-IN" sz="1800" b="1" dirty="0" smtClean="0"/>
              <a:t>AI </a:t>
            </a:r>
            <a:r>
              <a:rPr lang="en-IN" sz="1800" b="1" dirty="0"/>
              <a:t>&amp; Processing </a:t>
            </a:r>
            <a:r>
              <a:rPr lang="en-IN" sz="1800" b="1" dirty="0" smtClean="0"/>
              <a:t>Technologies :</a:t>
            </a:r>
            <a:endParaRPr lang="en-IN" sz="1800" b="1" dirty="0"/>
          </a:p>
          <a:p>
            <a:pPr>
              <a:buFont typeface="Wingdings" pitchFamily="2" charset="2"/>
              <a:buChar char="§"/>
            </a:pPr>
            <a:r>
              <a:rPr lang="en-IN" sz="1800" dirty="0"/>
              <a:t>Google Gemini </a:t>
            </a:r>
            <a:r>
              <a:rPr lang="en-IN" sz="1800" dirty="0" smtClean="0"/>
              <a:t>API </a:t>
            </a:r>
            <a:r>
              <a:rPr lang="en-US" sz="1800" dirty="0"/>
              <a:t>(gemini-2.5-flash</a:t>
            </a:r>
            <a:r>
              <a:rPr lang="en-US" sz="1800" dirty="0" smtClean="0"/>
              <a:t>)</a:t>
            </a:r>
            <a:r>
              <a:rPr lang="en-IN" sz="1800" dirty="0" smtClean="0"/>
              <a:t> </a:t>
            </a:r>
            <a:r>
              <a:rPr lang="en-IN" sz="1800" dirty="0"/>
              <a:t>– Content generation</a:t>
            </a:r>
          </a:p>
          <a:p>
            <a:pPr>
              <a:buFont typeface="Wingdings" pitchFamily="2" charset="2"/>
              <a:buChar char="§"/>
            </a:pPr>
            <a:r>
              <a:rPr lang="en-IN" sz="1800" dirty="0" smtClean="0"/>
              <a:t> </a:t>
            </a:r>
            <a:r>
              <a:rPr lang="en-IN" sz="1800" dirty="0" err="1" smtClean="0"/>
              <a:t>OpenAI</a:t>
            </a:r>
            <a:r>
              <a:rPr lang="en-IN" sz="1800" dirty="0" smtClean="0"/>
              <a:t> </a:t>
            </a:r>
            <a:r>
              <a:rPr lang="en-IN" sz="1800" dirty="0"/>
              <a:t>Whisper – Speech-to-text transcription</a:t>
            </a:r>
          </a:p>
          <a:p>
            <a:pPr>
              <a:buFont typeface="Wingdings" pitchFamily="2" charset="2"/>
              <a:buChar char="§"/>
            </a:pPr>
            <a:r>
              <a:rPr lang="en-IN" sz="1800" dirty="0" smtClean="0"/>
              <a:t> </a:t>
            </a:r>
            <a:r>
              <a:rPr lang="en-IN" sz="1800" dirty="0" err="1" smtClean="0"/>
              <a:t>PyMuPDF</a:t>
            </a:r>
            <a:r>
              <a:rPr lang="en-IN" sz="1800" dirty="0" smtClean="0"/>
              <a:t> </a:t>
            </a:r>
            <a:r>
              <a:rPr lang="en-IN" sz="1800" dirty="0"/>
              <a:t>– PDF text extraction</a:t>
            </a:r>
          </a:p>
          <a:p>
            <a:pPr>
              <a:buFont typeface="Wingdings" pitchFamily="2" charset="2"/>
              <a:buChar char="§"/>
            </a:pPr>
            <a:r>
              <a:rPr lang="en-IN" sz="1800" dirty="0" smtClean="0"/>
              <a:t> </a:t>
            </a:r>
            <a:r>
              <a:rPr lang="en-IN" sz="1800" dirty="0" err="1" smtClean="0"/>
              <a:t>Pytesseract</a:t>
            </a:r>
            <a:r>
              <a:rPr lang="en-IN" sz="1800" dirty="0" smtClean="0"/>
              <a:t> </a:t>
            </a:r>
            <a:r>
              <a:rPr lang="en-IN" sz="1800" dirty="0"/>
              <a:t>OCR – Image text extraction</a:t>
            </a:r>
          </a:p>
          <a:p>
            <a:pPr>
              <a:buFont typeface="Wingdings" pitchFamily="2" charset="2"/>
              <a:buChar char="§"/>
            </a:pPr>
            <a:r>
              <a:rPr lang="en-IN" sz="1800" dirty="0" smtClean="0"/>
              <a:t> </a:t>
            </a:r>
            <a:r>
              <a:rPr lang="en-IN" sz="1800" dirty="0" err="1" smtClean="0"/>
              <a:t>yt-dlp</a:t>
            </a:r>
            <a:r>
              <a:rPr lang="en-IN" sz="1800" dirty="0" smtClean="0"/>
              <a:t> </a:t>
            </a:r>
            <a:r>
              <a:rPr lang="en-IN" sz="1800" dirty="0"/>
              <a:t>– YouTube lecture processing</a:t>
            </a:r>
          </a:p>
          <a:p>
            <a:r>
              <a:rPr lang="en-IN" sz="1800" b="1" dirty="0" smtClean="0"/>
              <a:t>Database : </a:t>
            </a:r>
            <a:r>
              <a:rPr lang="en-IN" sz="1800" dirty="0" smtClean="0"/>
              <a:t>SQLite - Used </a:t>
            </a:r>
            <a:r>
              <a:rPr lang="en-IN" sz="1800" dirty="0"/>
              <a:t>for storing transcripts, notes, flashcards, and quiz content for future access.</a:t>
            </a:r>
          </a:p>
          <a:p>
            <a:r>
              <a:rPr lang="en-IN" sz="1800" b="1" dirty="0"/>
              <a:t>Supporting </a:t>
            </a:r>
            <a:r>
              <a:rPr lang="en-IN" sz="1800" b="1" dirty="0" smtClean="0"/>
              <a:t>Libraries : </a:t>
            </a:r>
            <a:r>
              <a:rPr lang="en-IN" sz="1800" dirty="0" smtClean="0"/>
              <a:t>FPDF2, Pillow, </a:t>
            </a:r>
            <a:r>
              <a:rPr lang="en-IN" sz="1800" dirty="0" err="1" smtClean="0"/>
              <a:t>OpenCV</a:t>
            </a:r>
            <a:r>
              <a:rPr lang="en-IN" sz="1800" dirty="0" smtClean="0"/>
              <a:t>, </a:t>
            </a:r>
            <a:r>
              <a:rPr lang="en-IN" sz="1800" dirty="0" err="1" smtClean="0"/>
              <a:t>NumPy</a:t>
            </a:r>
            <a:r>
              <a:rPr lang="en-IN" sz="1800" dirty="0" smtClean="0"/>
              <a:t>, Python </a:t>
            </a:r>
            <a:r>
              <a:rPr lang="en-IN" sz="1800" dirty="0" err="1"/>
              <a:t>Dotenv</a:t>
            </a:r>
            <a:endParaRPr lang="en-IN" sz="1800" dirty="0"/>
          </a:p>
          <a:p>
            <a:r>
              <a:rPr lang="en-IN" sz="1800" b="1" dirty="0" smtClean="0"/>
              <a:t>Deployment : </a:t>
            </a:r>
            <a:r>
              <a:rPr lang="en-IN" sz="1800" dirty="0" smtClean="0"/>
              <a:t>GitHub, </a:t>
            </a:r>
            <a:r>
              <a:rPr lang="en-IN" sz="1800" dirty="0" err="1" smtClean="0"/>
              <a:t>Streamlit</a:t>
            </a:r>
            <a:r>
              <a:rPr lang="en-IN" sz="1800" dirty="0" smtClean="0"/>
              <a:t> </a:t>
            </a:r>
            <a:r>
              <a:rPr lang="en-IN" sz="1800" dirty="0"/>
              <a:t>Community </a:t>
            </a:r>
            <a:r>
              <a:rPr lang="en-IN" sz="1800" dirty="0" smtClean="0"/>
              <a:t>Cloud</a:t>
            </a:r>
            <a:endParaRPr lang="en-IN"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3" name="Rectangle 1">
            <a:extLst>
              <a:ext uri="{FF2B5EF4-FFF2-40B4-BE49-F238E27FC236}">
                <a16:creationId xmlns="" xmlns:a16="http://schemas.microsoft.com/office/drawing/2014/main" id="{36B1088C-89EA-3F94-B807-2B09819E8AD8}"/>
              </a:ext>
            </a:extLst>
          </p:cNvPr>
          <p:cNvSpPr>
            <a:spLocks noGrp="1" noChangeArrowheads="1"/>
          </p:cNvSpPr>
          <p:nvPr>
            <p:ph idx="1"/>
          </p:nvPr>
        </p:nvSpPr>
        <p:spPr bwMode="auto">
          <a:xfrm>
            <a:off x="307650" y="1277685"/>
            <a:ext cx="9725114" cy="5121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smtClean="0"/>
              <a:t>Algorithm :</a:t>
            </a:r>
          </a:p>
          <a:p>
            <a:pPr>
              <a:buFont typeface="Wingdings" pitchFamily="2" charset="2"/>
              <a:buChar char="§"/>
            </a:pPr>
            <a:r>
              <a:rPr lang="en-IN" sz="1800" dirty="0" smtClean="0"/>
              <a:t> User </a:t>
            </a:r>
            <a:r>
              <a:rPr lang="en-IN" sz="1800" dirty="0"/>
              <a:t>uploads an </a:t>
            </a:r>
            <a:r>
              <a:rPr lang="en-IN" sz="1800" b="1" dirty="0"/>
              <a:t>Audio, PDF, Image, or YouTube lecture</a:t>
            </a:r>
            <a:r>
              <a:rPr lang="en-IN" sz="1800" dirty="0"/>
              <a:t>. </a:t>
            </a:r>
          </a:p>
          <a:p>
            <a:pPr>
              <a:buFont typeface="Wingdings" pitchFamily="2" charset="2"/>
              <a:buChar char="§"/>
            </a:pPr>
            <a:r>
              <a:rPr lang="en-IN" sz="1800" dirty="0" smtClean="0"/>
              <a:t> The </a:t>
            </a:r>
            <a:r>
              <a:rPr lang="en-IN" sz="1800" dirty="0"/>
              <a:t>system extracts text using </a:t>
            </a:r>
            <a:r>
              <a:rPr lang="en-IN" sz="1800" b="1" dirty="0"/>
              <a:t>Whisper, </a:t>
            </a:r>
            <a:r>
              <a:rPr lang="en-IN" sz="1800" b="1" dirty="0" err="1"/>
              <a:t>PyMuPDF</a:t>
            </a:r>
            <a:r>
              <a:rPr lang="en-IN" sz="1800" b="1" dirty="0"/>
              <a:t>, OCR, or </a:t>
            </a:r>
            <a:r>
              <a:rPr lang="en-IN" sz="1800" b="1" dirty="0" err="1"/>
              <a:t>yt-dlp</a:t>
            </a:r>
            <a:r>
              <a:rPr lang="en-IN" sz="1800" dirty="0"/>
              <a:t>. </a:t>
            </a:r>
          </a:p>
          <a:p>
            <a:pPr>
              <a:buFont typeface="Wingdings" pitchFamily="2" charset="2"/>
              <a:buChar char="§"/>
            </a:pPr>
            <a:r>
              <a:rPr lang="en-IN" sz="1800" dirty="0" smtClean="0"/>
              <a:t> Extracted </a:t>
            </a:r>
            <a:r>
              <a:rPr lang="en-IN" sz="1800" dirty="0"/>
              <a:t>content is processed by the </a:t>
            </a:r>
            <a:r>
              <a:rPr lang="en-IN" sz="1800" b="1" dirty="0"/>
              <a:t>Gemini AI model</a:t>
            </a:r>
            <a:r>
              <a:rPr lang="en-IN" sz="1800" dirty="0"/>
              <a:t>. </a:t>
            </a:r>
          </a:p>
          <a:p>
            <a:pPr>
              <a:buFont typeface="Wingdings" pitchFamily="2" charset="2"/>
              <a:buChar char="§"/>
            </a:pPr>
            <a:r>
              <a:rPr lang="en-IN" sz="1800" dirty="0" smtClean="0"/>
              <a:t> AI </a:t>
            </a:r>
            <a:r>
              <a:rPr lang="en-IN" sz="1800" dirty="0"/>
              <a:t>generates </a:t>
            </a:r>
            <a:r>
              <a:rPr lang="en-IN" sz="1800" b="1" dirty="0"/>
              <a:t>Study Notes, Flashcards, and MCQs</a:t>
            </a:r>
            <a:r>
              <a:rPr lang="en-IN" sz="1800" dirty="0"/>
              <a:t>. </a:t>
            </a:r>
          </a:p>
          <a:p>
            <a:pPr>
              <a:buFont typeface="Wingdings" pitchFamily="2" charset="2"/>
              <a:buChar char="§"/>
            </a:pPr>
            <a:r>
              <a:rPr lang="en-IN" sz="1800" dirty="0" smtClean="0"/>
              <a:t> Results </a:t>
            </a:r>
            <a:r>
              <a:rPr lang="en-IN" sz="1800" dirty="0"/>
              <a:t>are displayed, stored in </a:t>
            </a:r>
            <a:r>
              <a:rPr lang="en-IN" sz="1800" b="1" dirty="0"/>
              <a:t>SQLite</a:t>
            </a:r>
            <a:r>
              <a:rPr lang="en-IN" sz="1800" dirty="0"/>
              <a:t>, and made available for download. </a:t>
            </a:r>
          </a:p>
          <a:p>
            <a:r>
              <a:rPr lang="en-IN" sz="1800" b="1" dirty="0" smtClean="0"/>
              <a:t>Deployment :</a:t>
            </a:r>
            <a:endParaRPr lang="en-IN" sz="1800" b="1" dirty="0"/>
          </a:p>
          <a:p>
            <a:pPr>
              <a:buFont typeface="Wingdings" pitchFamily="2" charset="2"/>
              <a:buChar char="§"/>
            </a:pPr>
            <a:r>
              <a:rPr lang="en-IN" sz="1800" dirty="0" smtClean="0"/>
              <a:t> Source </a:t>
            </a:r>
            <a:r>
              <a:rPr lang="en-IN" sz="1800" dirty="0"/>
              <a:t>code hosted on </a:t>
            </a:r>
            <a:r>
              <a:rPr lang="en-IN" sz="1800" b="1" dirty="0"/>
              <a:t>GitHub</a:t>
            </a:r>
            <a:r>
              <a:rPr lang="en-IN" sz="1800" dirty="0"/>
              <a:t>. </a:t>
            </a:r>
          </a:p>
          <a:p>
            <a:pPr>
              <a:buFont typeface="Wingdings" pitchFamily="2" charset="2"/>
              <a:buChar char="§"/>
            </a:pPr>
            <a:r>
              <a:rPr lang="en-IN" sz="1800" dirty="0" smtClean="0"/>
              <a:t> Application </a:t>
            </a:r>
            <a:r>
              <a:rPr lang="en-IN" sz="1800" dirty="0"/>
              <a:t>deployed on </a:t>
            </a:r>
            <a:r>
              <a:rPr lang="en-IN" sz="1800" b="1" dirty="0" err="1"/>
              <a:t>Streamlit</a:t>
            </a:r>
            <a:r>
              <a:rPr lang="en-IN" sz="1800" b="1" dirty="0"/>
              <a:t> Cloud</a:t>
            </a:r>
            <a:r>
              <a:rPr lang="en-IN" sz="1800" dirty="0"/>
              <a:t>. </a:t>
            </a:r>
          </a:p>
          <a:p>
            <a:pPr>
              <a:buFont typeface="Wingdings" pitchFamily="2" charset="2"/>
              <a:buChar char="§"/>
            </a:pPr>
            <a:r>
              <a:rPr lang="en-IN" sz="1800" dirty="0" smtClean="0"/>
              <a:t> API </a:t>
            </a:r>
            <a:r>
              <a:rPr lang="en-IN" sz="1800" dirty="0"/>
              <a:t>keys managed securely using </a:t>
            </a:r>
            <a:r>
              <a:rPr lang="en-IN" sz="1800" b="1" dirty="0"/>
              <a:t>Environment Variables and </a:t>
            </a:r>
            <a:r>
              <a:rPr lang="en-IN" sz="1800" b="1" dirty="0" err="1"/>
              <a:t>Streamlit</a:t>
            </a:r>
            <a:r>
              <a:rPr lang="en-IN" sz="1800" b="1" dirty="0"/>
              <a:t> Secrets</a:t>
            </a:r>
            <a:r>
              <a:rPr lang="en-IN" sz="1800" dirty="0"/>
              <a:t>. </a:t>
            </a:r>
          </a:p>
          <a:p>
            <a:pPr>
              <a:buFont typeface="Wingdings" pitchFamily="2" charset="2"/>
              <a:buChar char="§"/>
            </a:pPr>
            <a:r>
              <a:rPr lang="en-IN" sz="1800" dirty="0" smtClean="0"/>
              <a:t> Accessible </a:t>
            </a:r>
            <a:r>
              <a:rPr lang="en-IN" sz="1800" dirty="0"/>
              <a:t>through any web browser without local installation</a:t>
            </a:r>
            <a:r>
              <a:rPr lang="en-IN" sz="1800" dirty="0" smtClean="0"/>
              <a:t>.</a:t>
            </a:r>
            <a:r>
              <a:rPr kumimoji="0" lang="en-US" altLang="en-US" sz="1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 xmlns:a16="http://schemas.microsoft.com/office/drawing/2014/main" id="{EACDFCCA-3998-2A0E-AE71-80AFE8A15F7F}"/>
              </a:ext>
            </a:extLst>
          </p:cNvPr>
          <p:cNvSpPr>
            <a:spLocks noGrp="1" noChangeArrowheads="1"/>
          </p:cNvSpPr>
          <p:nvPr>
            <p:ph idx="1"/>
          </p:nvPr>
        </p:nvSpPr>
        <p:spPr bwMode="auto">
          <a:xfrm>
            <a:off x="0" y="1588914"/>
            <a:ext cx="9725114" cy="4716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smtClean="0"/>
              <a:t>Successfully </a:t>
            </a:r>
            <a:r>
              <a:rPr lang="en-US" dirty="0"/>
              <a:t>developed </a:t>
            </a:r>
            <a:r>
              <a:rPr lang="en-US" b="1" dirty="0" err="1"/>
              <a:t>Scribexa</a:t>
            </a:r>
            <a:r>
              <a:rPr lang="en-US" b="1" dirty="0"/>
              <a:t> AI</a:t>
            </a:r>
            <a:r>
              <a:rPr lang="en-US" dirty="0"/>
              <a:t>, an AI-powered learning assistant using </a:t>
            </a:r>
            <a:r>
              <a:rPr lang="en-US" dirty="0" err="1"/>
              <a:t>Streamlit</a:t>
            </a:r>
            <a:r>
              <a:rPr lang="en-US" dirty="0"/>
              <a:t>.</a:t>
            </a:r>
          </a:p>
          <a:p>
            <a:r>
              <a:rPr lang="en-US" dirty="0" smtClean="0"/>
              <a:t>Implemented </a:t>
            </a:r>
            <a:r>
              <a:rPr lang="en-US" dirty="0"/>
              <a:t>support for multiple input formats including PDF documents, audio recordings, images, and YouTube lecture links.</a:t>
            </a:r>
          </a:p>
          <a:p>
            <a:r>
              <a:rPr lang="en-US" dirty="0" smtClean="0"/>
              <a:t>Integrated </a:t>
            </a:r>
            <a:r>
              <a:rPr lang="en-US" dirty="0"/>
              <a:t>text extraction, OCR, transcription, and content processing modules into a unified workflow.</a:t>
            </a:r>
          </a:p>
          <a:p>
            <a:r>
              <a:rPr lang="en-US" dirty="0" smtClean="0"/>
              <a:t>Designed </a:t>
            </a:r>
            <a:r>
              <a:rPr lang="en-US" dirty="0"/>
              <a:t>a study material generation pipeline capable of producing Notes, Flashcards, and MCQs.</a:t>
            </a:r>
          </a:p>
          <a:p>
            <a:r>
              <a:rPr lang="en-US" dirty="0" smtClean="0"/>
              <a:t>Integrated </a:t>
            </a:r>
            <a:r>
              <a:rPr lang="en-US" dirty="0"/>
              <a:t>SQLite database for storing processed lecture content and generated resources.</a:t>
            </a:r>
          </a:p>
          <a:p>
            <a:r>
              <a:rPr lang="en-US" dirty="0" smtClean="0"/>
              <a:t>Developed </a:t>
            </a:r>
            <a:r>
              <a:rPr lang="en-US" dirty="0"/>
              <a:t>an intuitive dashboard for content upload, processing, and result visualization.</a:t>
            </a:r>
          </a:p>
          <a:p>
            <a:r>
              <a:rPr lang="en-US" dirty="0" smtClean="0"/>
              <a:t>Demonstrated </a:t>
            </a:r>
            <a:r>
              <a:rPr lang="en-US" dirty="0"/>
              <a:t>the feasibility of converting raw educational content into structured learning resources for efficient revision and self-learning.</a:t>
            </a:r>
          </a:p>
          <a:p>
            <a:r>
              <a:rPr lang="en-US" b="1" i="1" dirty="0"/>
              <a:t>Note:</a:t>
            </a:r>
            <a:r>
              <a:rPr lang="en-US" i="1" dirty="0"/>
              <a:t> </a:t>
            </a:r>
            <a:r>
              <a:rPr lang="en-US" b="1" i="1" dirty="0"/>
              <a:t>During deployment, occasional limitations were observed due to external AI API quota restrictions; however, the overall system architecture, workflow, and user interface were successfully implemented and validated.</a:t>
            </a: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7" name="Picture 3" descr="C:\Users\hp\Pictures\Screenshots\home-pag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4203" y="1824693"/>
            <a:ext cx="10648059" cy="448129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37488" y="1316052"/>
            <a:ext cx="1812534" cy="369332"/>
          </a:xfrm>
          <a:prstGeom prst="rect">
            <a:avLst/>
          </a:prstGeom>
          <a:noFill/>
        </p:spPr>
        <p:txBody>
          <a:bodyPr wrap="square" rtlCol="0">
            <a:spAutoFit/>
          </a:bodyPr>
          <a:lstStyle/>
          <a:p>
            <a:r>
              <a:rPr lang="en-US" dirty="0" smtClean="0"/>
              <a:t>Home Page :</a:t>
            </a:r>
            <a:endParaRPr lang="en-IN" dirty="0"/>
          </a:p>
        </p:txBody>
      </p:sp>
    </p:spTree>
    <p:extLst>
      <p:ext uri="{BB962C8B-B14F-4D97-AF65-F5344CB8AC3E}">
        <p14:creationId xmlns:p14="http://schemas.microsoft.com/office/powerpoint/2010/main" val="113159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2050" name="Picture 2" descr="C:\Users\hp\Pictures\Screenshots\file processin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8385" y="1625563"/>
            <a:ext cx="11072590" cy="43906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931492" y="1256232"/>
            <a:ext cx="3024636" cy="369332"/>
          </a:xfrm>
          <a:prstGeom prst="rect">
            <a:avLst/>
          </a:prstGeom>
          <a:noFill/>
        </p:spPr>
        <p:txBody>
          <a:bodyPr wrap="square" rtlCol="0">
            <a:spAutoFit/>
          </a:bodyPr>
          <a:lstStyle/>
          <a:p>
            <a:r>
              <a:rPr lang="en-IN" dirty="0"/>
              <a:t>File Upload </a:t>
            </a:r>
            <a:r>
              <a:rPr lang="en-IN" dirty="0" smtClean="0"/>
              <a:t>Interface : </a:t>
            </a:r>
            <a:endParaRPr lang="en-IN" dirty="0"/>
          </a:p>
        </p:txBody>
      </p:sp>
    </p:spTree>
    <p:extLst>
      <p:ext uri="{BB962C8B-B14F-4D97-AF65-F5344CB8AC3E}">
        <p14:creationId xmlns:p14="http://schemas.microsoft.com/office/powerpoint/2010/main" val="691735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3074" name="Picture 2" descr="C:\Users\hp\Pictures\Screenshots\outpu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0953" y="1691993"/>
            <a:ext cx="10610367" cy="46831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760576" y="1264778"/>
            <a:ext cx="4519593" cy="369332"/>
          </a:xfrm>
          <a:prstGeom prst="rect">
            <a:avLst/>
          </a:prstGeom>
          <a:noFill/>
        </p:spPr>
        <p:txBody>
          <a:bodyPr wrap="square" rtlCol="0">
            <a:spAutoFit/>
          </a:bodyPr>
          <a:lstStyle/>
          <a:p>
            <a:r>
              <a:rPr lang="en-US" dirty="0"/>
              <a:t>Results/Output Interface (or tab layout</a:t>
            </a:r>
            <a:r>
              <a:rPr lang="en-US" dirty="0" smtClean="0"/>
              <a:t>) :</a:t>
            </a:r>
            <a:endParaRPr lang="en-IN" dirty="0"/>
          </a:p>
        </p:txBody>
      </p:sp>
    </p:spTree>
    <p:extLst>
      <p:ext uri="{BB962C8B-B14F-4D97-AF65-F5344CB8AC3E}">
        <p14:creationId xmlns:p14="http://schemas.microsoft.com/office/powerpoint/2010/main" val="2599267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p:txBody>
          <a:bodyPr>
            <a:normAutofit/>
          </a:bodyPr>
          <a:lstStyle/>
          <a:p>
            <a:r>
              <a:rPr lang="en-US" sz="2000" dirty="0" err="1"/>
              <a:t>Scribexa</a:t>
            </a:r>
            <a:r>
              <a:rPr lang="en-US" sz="2000" dirty="0"/>
              <a:t> AI presents a unified platform for processing educational content from multiple sources, including PDFs, audio files, images, and YouTube lectures. The project successfully demonstrates the design and implementation of an AI-assisted learning workflow that integrates content extraction, transcription, document processing, and study material generation capabilities within a single application.</a:t>
            </a:r>
          </a:p>
          <a:p>
            <a:r>
              <a:rPr lang="en-US" sz="2000" dirty="0"/>
              <a:t>The developed system provides an intuitive user interface and a modular architecture that can be extended with different AI models and services. During deployment and testing, limitations related to external AI API quotas and service availability affected the consistency of content generation. However, the overall application architecture, workflow design, preprocessing modules, and user interaction pipeline were successfully implemented and validated.</a:t>
            </a:r>
          </a:p>
          <a:p>
            <a:r>
              <a:rPr lang="en-US" sz="2000" dirty="0"/>
              <a:t>The project highlights the potential of AI-powered educational tools in simplifying content processing and supporting efficient learning experiences</a:t>
            </a:r>
            <a:r>
              <a:rPr lang="en-US" sz="2000" dirty="0" smtClean="0"/>
              <a:t>.</a:t>
            </a:r>
            <a:endParaRPr lang="en-US" sz="2000" dirty="0"/>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2" name="TextBox 1"/>
          <p:cNvSpPr txBox="1"/>
          <p:nvPr/>
        </p:nvSpPr>
        <p:spPr>
          <a:xfrm>
            <a:off x="794759" y="1683521"/>
            <a:ext cx="11095345" cy="3970318"/>
          </a:xfrm>
          <a:prstGeom prst="rect">
            <a:avLst/>
          </a:prstGeom>
          <a:noFill/>
        </p:spPr>
        <p:txBody>
          <a:bodyPr wrap="none" rtlCol="0">
            <a:spAutoFit/>
          </a:bodyPr>
          <a:lstStyle/>
          <a:p>
            <a:r>
              <a:rPr lang="en-US" dirty="0" smtClean="0"/>
              <a:t>Several </a:t>
            </a:r>
            <a:r>
              <a:rPr lang="en-US" dirty="0"/>
              <a:t>enhancements can further improve the capabilities of </a:t>
            </a:r>
            <a:r>
              <a:rPr lang="en-US" dirty="0" err="1"/>
              <a:t>Scribexa</a:t>
            </a:r>
            <a:r>
              <a:rPr lang="en-US" dirty="0"/>
              <a:t> AI</a:t>
            </a:r>
            <a:r>
              <a:rPr lang="en-US" dirty="0" smtClean="0"/>
              <a:t>:</a:t>
            </a:r>
          </a:p>
          <a:p>
            <a:endParaRPr lang="en-US" dirty="0"/>
          </a:p>
          <a:p>
            <a:pPr marL="285750" indent="-285750">
              <a:buFont typeface="Wingdings" pitchFamily="2" charset="2"/>
              <a:buChar char="§"/>
            </a:pPr>
            <a:r>
              <a:rPr lang="en-US" dirty="0" smtClean="0"/>
              <a:t>Integration </a:t>
            </a:r>
            <a:r>
              <a:rPr lang="en-US" dirty="0"/>
              <a:t>of more reliable and scalable AI models for study material generation.</a:t>
            </a:r>
          </a:p>
          <a:p>
            <a:pPr marL="285750" indent="-285750">
              <a:buFont typeface="Wingdings" pitchFamily="2" charset="2"/>
              <a:buChar char="§"/>
            </a:pPr>
            <a:r>
              <a:rPr lang="en-US" dirty="0" smtClean="0"/>
              <a:t>Support </a:t>
            </a:r>
            <a:r>
              <a:rPr lang="en-US" dirty="0"/>
              <a:t>for locally hosted LLMs to reduce dependency on external API quotas.</a:t>
            </a:r>
          </a:p>
          <a:p>
            <a:pPr marL="285750" indent="-285750">
              <a:buFont typeface="Wingdings" pitchFamily="2" charset="2"/>
              <a:buChar char="§"/>
            </a:pPr>
            <a:r>
              <a:rPr lang="en-US" dirty="0" smtClean="0"/>
              <a:t>Interactive </a:t>
            </a:r>
            <a:r>
              <a:rPr lang="en-US" dirty="0"/>
              <a:t>AI </a:t>
            </a:r>
            <a:r>
              <a:rPr lang="en-US" dirty="0" err="1"/>
              <a:t>chatbot</a:t>
            </a:r>
            <a:r>
              <a:rPr lang="en-US" dirty="0"/>
              <a:t> for answering questions based on generated notes.</a:t>
            </a:r>
          </a:p>
          <a:p>
            <a:pPr marL="285750" indent="-285750">
              <a:buFont typeface="Wingdings" pitchFamily="2" charset="2"/>
              <a:buChar char="§"/>
            </a:pPr>
            <a:r>
              <a:rPr lang="en-US" dirty="0" smtClean="0"/>
              <a:t>Personalized </a:t>
            </a:r>
            <a:r>
              <a:rPr lang="en-US" dirty="0"/>
              <a:t>learning recommendations based on user preferences.</a:t>
            </a:r>
          </a:p>
          <a:p>
            <a:pPr marL="285750" indent="-285750">
              <a:buFont typeface="Wingdings" pitchFamily="2" charset="2"/>
              <a:buChar char="§"/>
            </a:pPr>
            <a:r>
              <a:rPr lang="en-US" dirty="0" smtClean="0"/>
              <a:t>Multi-language </a:t>
            </a:r>
            <a:r>
              <a:rPr lang="en-US" dirty="0"/>
              <a:t>support for content extraction and study material generation.</a:t>
            </a:r>
          </a:p>
          <a:p>
            <a:pPr marL="285750" indent="-285750">
              <a:buFont typeface="Wingdings" pitchFamily="2" charset="2"/>
              <a:buChar char="§"/>
            </a:pPr>
            <a:r>
              <a:rPr lang="en-US" dirty="0" smtClean="0"/>
              <a:t>Student </a:t>
            </a:r>
            <a:r>
              <a:rPr lang="en-US" dirty="0"/>
              <a:t>progress tracking and performance analytics dashboard.</a:t>
            </a:r>
          </a:p>
          <a:p>
            <a:pPr marL="285750" indent="-285750">
              <a:buFont typeface="Wingdings" pitchFamily="2" charset="2"/>
              <a:buChar char="§"/>
            </a:pPr>
            <a:r>
              <a:rPr lang="en-US" dirty="0" smtClean="0"/>
              <a:t>Mobile </a:t>
            </a:r>
            <a:r>
              <a:rPr lang="en-US" dirty="0"/>
              <a:t>application support for improved accessibility.</a:t>
            </a:r>
          </a:p>
          <a:p>
            <a:pPr marL="285750" indent="-285750">
              <a:buFont typeface="Wingdings" pitchFamily="2" charset="2"/>
              <a:buChar char="§"/>
            </a:pPr>
            <a:r>
              <a:rPr lang="en-US" b="1" dirty="0" smtClean="0"/>
              <a:t>AWS/GCP/Azure</a:t>
            </a:r>
            <a:r>
              <a:rPr lang="en-US" dirty="0" smtClean="0"/>
              <a:t> Cloud </a:t>
            </a:r>
            <a:r>
              <a:rPr lang="en-US" dirty="0"/>
              <a:t>database integration for secure storage and synchronization.</a:t>
            </a:r>
          </a:p>
          <a:p>
            <a:pPr marL="285750" indent="-285750">
              <a:buFont typeface="Wingdings" pitchFamily="2" charset="2"/>
              <a:buChar char="§"/>
            </a:pPr>
            <a:r>
              <a:rPr lang="en-US" dirty="0" smtClean="0"/>
              <a:t>Advanced </a:t>
            </a:r>
            <a:r>
              <a:rPr lang="en-US" dirty="0"/>
              <a:t>quiz generation with automatic scoring and feedback.</a:t>
            </a:r>
          </a:p>
          <a:p>
            <a:pPr marL="285750" indent="-285750">
              <a:buFont typeface="Wingdings" pitchFamily="2" charset="2"/>
              <a:buChar char="§"/>
            </a:pPr>
            <a:r>
              <a:rPr lang="en-US" dirty="0" smtClean="0"/>
              <a:t>Integration </a:t>
            </a:r>
            <a:r>
              <a:rPr lang="en-US" dirty="0"/>
              <a:t>with Learning Management Systems (LMS) and educational platforms.</a:t>
            </a:r>
          </a:p>
          <a:p>
            <a:endParaRPr lang="en-US" dirty="0" smtClean="0"/>
          </a:p>
          <a:p>
            <a:r>
              <a:rPr lang="en-US" dirty="0" smtClean="0"/>
              <a:t>These </a:t>
            </a:r>
            <a:r>
              <a:rPr lang="en-US" dirty="0"/>
              <a:t>improvements can transform </a:t>
            </a:r>
            <a:r>
              <a:rPr lang="en-US" b="1" dirty="0" err="1"/>
              <a:t>Scribexa</a:t>
            </a:r>
            <a:r>
              <a:rPr lang="en-US" b="1" dirty="0"/>
              <a:t> AI </a:t>
            </a:r>
            <a:r>
              <a:rPr lang="en-US" dirty="0"/>
              <a:t>into a comprehensive AI-powered learning and revision platform</a:t>
            </a:r>
            <a:r>
              <a:rPr lang="en-US" dirty="0" smtClean="0"/>
              <a:t>. </a:t>
            </a:r>
            <a:endParaRPr lang="en-US" dirty="0"/>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TextBox 1"/>
          <p:cNvSpPr txBox="1"/>
          <p:nvPr/>
        </p:nvSpPr>
        <p:spPr>
          <a:xfrm>
            <a:off x="940037" y="1204958"/>
            <a:ext cx="10485690" cy="3139321"/>
          </a:xfrm>
          <a:prstGeom prst="rect">
            <a:avLst/>
          </a:prstGeom>
          <a:noFill/>
        </p:spPr>
        <p:txBody>
          <a:bodyPr wrap="square" rtlCol="0">
            <a:spAutoFit/>
          </a:bodyPr>
          <a:lstStyle/>
          <a:p>
            <a:pPr marL="285750" indent="-285750">
              <a:buFont typeface="Wingdings" pitchFamily="2" charset="2"/>
              <a:buChar char="§"/>
            </a:pPr>
            <a:r>
              <a:rPr lang="en-US" dirty="0" err="1" smtClean="0"/>
              <a:t>OpenAI</a:t>
            </a:r>
            <a:r>
              <a:rPr lang="en-US" dirty="0" smtClean="0"/>
              <a:t> </a:t>
            </a:r>
            <a:r>
              <a:rPr lang="en-US" dirty="0"/>
              <a:t>Whisper </a:t>
            </a:r>
            <a:r>
              <a:rPr lang="en-US" dirty="0" smtClean="0"/>
              <a:t>Documentation : (</a:t>
            </a:r>
            <a:r>
              <a:rPr lang="en-US" dirty="0" smtClean="0">
                <a:hlinkClick r:id="rId2"/>
              </a:rPr>
              <a:t>https</a:t>
            </a:r>
            <a:r>
              <a:rPr lang="en-US" dirty="0">
                <a:hlinkClick r:id="rId2"/>
              </a:rPr>
              <a:t>://</a:t>
            </a:r>
            <a:r>
              <a:rPr lang="en-US" dirty="0" smtClean="0">
                <a:hlinkClick r:id="rId2"/>
              </a:rPr>
              <a:t>github.com/openai/whisper</a:t>
            </a:r>
            <a:r>
              <a:rPr lang="en-US" dirty="0" smtClean="0"/>
              <a:t>)</a:t>
            </a:r>
            <a:endParaRPr lang="en-US" dirty="0"/>
          </a:p>
          <a:p>
            <a:pPr marL="285750" indent="-285750">
              <a:buFont typeface="Wingdings" pitchFamily="2" charset="2"/>
              <a:buChar char="§"/>
            </a:pPr>
            <a:r>
              <a:rPr lang="en-US" dirty="0" smtClean="0"/>
              <a:t>Hugging </a:t>
            </a:r>
            <a:r>
              <a:rPr lang="en-US" dirty="0"/>
              <a:t>Face Inference API </a:t>
            </a:r>
            <a:r>
              <a:rPr lang="en-US" dirty="0" smtClean="0"/>
              <a:t>Documentation : (</a:t>
            </a:r>
            <a:r>
              <a:rPr lang="en-US" dirty="0" smtClean="0">
                <a:hlinkClick r:id="rId3"/>
              </a:rPr>
              <a:t>https</a:t>
            </a:r>
            <a:r>
              <a:rPr lang="en-US" dirty="0">
                <a:hlinkClick r:id="rId3"/>
              </a:rPr>
              <a:t>://</a:t>
            </a:r>
            <a:r>
              <a:rPr lang="en-US" dirty="0" smtClean="0">
                <a:hlinkClick r:id="rId3"/>
              </a:rPr>
              <a:t>huggingface.co/docs</a:t>
            </a:r>
            <a:r>
              <a:rPr lang="en-US" dirty="0" smtClean="0"/>
              <a:t>)</a:t>
            </a:r>
            <a:endParaRPr lang="en-US" dirty="0"/>
          </a:p>
          <a:p>
            <a:pPr marL="285750" indent="-285750">
              <a:buFont typeface="Wingdings" pitchFamily="2" charset="2"/>
              <a:buChar char="§"/>
            </a:pPr>
            <a:r>
              <a:rPr lang="en-US" dirty="0" err="1" smtClean="0"/>
              <a:t>Streamlit</a:t>
            </a:r>
            <a:r>
              <a:rPr lang="en-US" dirty="0" smtClean="0"/>
              <a:t> Documentation : (</a:t>
            </a:r>
            <a:r>
              <a:rPr lang="en-US" dirty="0" smtClean="0">
                <a:hlinkClick r:id="rId4"/>
              </a:rPr>
              <a:t>https</a:t>
            </a:r>
            <a:r>
              <a:rPr lang="en-US" dirty="0">
                <a:hlinkClick r:id="rId4"/>
              </a:rPr>
              <a:t>://</a:t>
            </a:r>
            <a:r>
              <a:rPr lang="en-US" dirty="0" smtClean="0">
                <a:hlinkClick r:id="rId4"/>
              </a:rPr>
              <a:t>docs.streamlit.io</a:t>
            </a:r>
            <a:r>
              <a:rPr lang="en-US" dirty="0" smtClean="0"/>
              <a:t>)</a:t>
            </a:r>
            <a:endParaRPr lang="en-US" dirty="0"/>
          </a:p>
          <a:p>
            <a:pPr marL="285750" indent="-285750">
              <a:buFont typeface="Wingdings" pitchFamily="2" charset="2"/>
              <a:buChar char="§"/>
            </a:pPr>
            <a:r>
              <a:rPr lang="en-US" dirty="0" err="1" smtClean="0"/>
              <a:t>PyMuPDF</a:t>
            </a:r>
            <a:r>
              <a:rPr lang="en-US" dirty="0" smtClean="0"/>
              <a:t> Documentation : (</a:t>
            </a:r>
            <a:r>
              <a:rPr lang="en-US" dirty="0" smtClean="0">
                <a:hlinkClick r:id="rId5"/>
              </a:rPr>
              <a:t>https</a:t>
            </a:r>
            <a:r>
              <a:rPr lang="en-US" dirty="0">
                <a:hlinkClick r:id="rId5"/>
              </a:rPr>
              <a:t>://</a:t>
            </a:r>
            <a:r>
              <a:rPr lang="en-US" dirty="0" smtClean="0">
                <a:hlinkClick r:id="rId5"/>
              </a:rPr>
              <a:t>pymupdf.readthedocs.io</a:t>
            </a:r>
            <a:r>
              <a:rPr lang="en-US" dirty="0" smtClean="0"/>
              <a:t>)</a:t>
            </a:r>
            <a:endParaRPr lang="en-US" dirty="0"/>
          </a:p>
          <a:p>
            <a:pPr marL="285750" indent="-285750">
              <a:buFont typeface="Wingdings" pitchFamily="2" charset="2"/>
              <a:buChar char="§"/>
            </a:pPr>
            <a:r>
              <a:rPr lang="en-US" dirty="0" err="1" smtClean="0"/>
              <a:t>Pytesseract</a:t>
            </a:r>
            <a:r>
              <a:rPr lang="en-US" dirty="0" smtClean="0"/>
              <a:t> </a:t>
            </a:r>
            <a:r>
              <a:rPr lang="en-US" dirty="0"/>
              <a:t>OCR </a:t>
            </a:r>
            <a:r>
              <a:rPr lang="en-US" dirty="0" smtClean="0"/>
              <a:t>Documentation : (</a:t>
            </a:r>
            <a:r>
              <a:rPr lang="en-US" dirty="0" smtClean="0">
                <a:hlinkClick r:id="rId6"/>
              </a:rPr>
              <a:t>https</a:t>
            </a:r>
            <a:r>
              <a:rPr lang="en-US" dirty="0">
                <a:hlinkClick r:id="rId6"/>
              </a:rPr>
              <a:t>://</a:t>
            </a:r>
            <a:r>
              <a:rPr lang="en-US" dirty="0" smtClean="0">
                <a:hlinkClick r:id="rId6"/>
              </a:rPr>
              <a:t>pypi.org/project/pytesseract</a:t>
            </a:r>
            <a:r>
              <a:rPr lang="en-US" dirty="0" smtClean="0"/>
              <a:t>)</a:t>
            </a:r>
            <a:endParaRPr lang="en-US" dirty="0"/>
          </a:p>
          <a:p>
            <a:pPr marL="285750" indent="-285750">
              <a:buFont typeface="Wingdings" pitchFamily="2" charset="2"/>
              <a:buChar char="§"/>
            </a:pPr>
            <a:r>
              <a:rPr lang="en-US" dirty="0" err="1" smtClean="0"/>
              <a:t>yt-dlp</a:t>
            </a:r>
            <a:r>
              <a:rPr lang="en-US" dirty="0" smtClean="0"/>
              <a:t> Documentation : (</a:t>
            </a:r>
            <a:r>
              <a:rPr lang="en-US" dirty="0" smtClean="0">
                <a:hlinkClick r:id="rId7"/>
              </a:rPr>
              <a:t>https</a:t>
            </a:r>
            <a:r>
              <a:rPr lang="en-US" dirty="0">
                <a:hlinkClick r:id="rId7"/>
              </a:rPr>
              <a:t>://</a:t>
            </a:r>
            <a:r>
              <a:rPr lang="en-US" dirty="0" smtClean="0">
                <a:hlinkClick r:id="rId7"/>
              </a:rPr>
              <a:t>github.com/yt-dlp/yt-dlp</a:t>
            </a:r>
            <a:r>
              <a:rPr lang="en-US" dirty="0" smtClean="0"/>
              <a:t>)</a:t>
            </a:r>
            <a:endParaRPr lang="en-US" dirty="0"/>
          </a:p>
          <a:p>
            <a:pPr marL="285750" indent="-285750">
              <a:buFont typeface="Wingdings" pitchFamily="2" charset="2"/>
              <a:buChar char="§"/>
            </a:pPr>
            <a:r>
              <a:rPr lang="en-US" dirty="0" smtClean="0"/>
              <a:t>Python </a:t>
            </a:r>
            <a:r>
              <a:rPr lang="en-US" dirty="0"/>
              <a:t>Official </a:t>
            </a:r>
            <a:r>
              <a:rPr lang="en-US" dirty="0" smtClean="0"/>
              <a:t>Documentation : (</a:t>
            </a:r>
            <a:r>
              <a:rPr lang="en-US" dirty="0" smtClean="0">
                <a:hlinkClick r:id="rId8"/>
              </a:rPr>
              <a:t>https</a:t>
            </a:r>
            <a:r>
              <a:rPr lang="en-US" dirty="0">
                <a:hlinkClick r:id="rId8"/>
              </a:rPr>
              <a:t>://</a:t>
            </a:r>
            <a:r>
              <a:rPr lang="en-US" dirty="0" smtClean="0">
                <a:hlinkClick r:id="rId8"/>
              </a:rPr>
              <a:t>docs.python.org</a:t>
            </a:r>
            <a:r>
              <a:rPr lang="en-US" dirty="0" smtClean="0"/>
              <a:t>)</a:t>
            </a:r>
            <a:endParaRPr lang="en-US" dirty="0"/>
          </a:p>
          <a:p>
            <a:pPr marL="285750" indent="-285750">
              <a:buFont typeface="Wingdings" pitchFamily="2" charset="2"/>
              <a:buChar char="§"/>
            </a:pPr>
            <a:r>
              <a:rPr lang="en-US" dirty="0" smtClean="0"/>
              <a:t>SQLite Documentation : (</a:t>
            </a:r>
            <a:r>
              <a:rPr lang="en-US" dirty="0" smtClean="0">
                <a:hlinkClick r:id="rId9"/>
              </a:rPr>
              <a:t>https</a:t>
            </a:r>
            <a:r>
              <a:rPr lang="en-US" dirty="0">
                <a:hlinkClick r:id="rId9"/>
              </a:rPr>
              <a:t>://</a:t>
            </a:r>
            <a:r>
              <a:rPr lang="en-US" dirty="0" smtClean="0">
                <a:hlinkClick r:id="rId9"/>
              </a:rPr>
              <a:t>www.sqlite.org/docs.html</a:t>
            </a:r>
            <a:r>
              <a:rPr lang="en-US" dirty="0" smtClean="0"/>
              <a:t>)</a:t>
            </a:r>
            <a:endParaRPr lang="en-US" dirty="0"/>
          </a:p>
          <a:p>
            <a:pPr marL="285750" indent="-285750">
              <a:buFont typeface="Wingdings" pitchFamily="2" charset="2"/>
              <a:buChar char="§"/>
            </a:pPr>
            <a:r>
              <a:rPr lang="en-US" dirty="0" smtClean="0"/>
              <a:t>Pillow </a:t>
            </a:r>
            <a:r>
              <a:rPr lang="en-US" dirty="0"/>
              <a:t>(PIL) </a:t>
            </a:r>
            <a:r>
              <a:rPr lang="en-US" dirty="0" smtClean="0"/>
              <a:t>Documentation : (</a:t>
            </a:r>
            <a:r>
              <a:rPr lang="en-US" dirty="0" smtClean="0">
                <a:hlinkClick r:id="rId10"/>
              </a:rPr>
              <a:t>https</a:t>
            </a:r>
            <a:r>
              <a:rPr lang="en-US" dirty="0">
                <a:hlinkClick r:id="rId10"/>
              </a:rPr>
              <a:t>://</a:t>
            </a:r>
            <a:r>
              <a:rPr lang="en-US" dirty="0" smtClean="0">
                <a:hlinkClick r:id="rId10"/>
              </a:rPr>
              <a:t>pillow.readthedocs.io</a:t>
            </a:r>
            <a:r>
              <a:rPr lang="en-US" dirty="0" smtClean="0"/>
              <a:t>)</a:t>
            </a:r>
            <a:endParaRPr lang="en-US" dirty="0"/>
          </a:p>
          <a:p>
            <a:pPr marL="285750" indent="-285750">
              <a:buFont typeface="Wingdings" pitchFamily="2" charset="2"/>
              <a:buChar char="§"/>
            </a:pPr>
            <a:r>
              <a:rPr lang="en-US" dirty="0" smtClean="0"/>
              <a:t>Speech </a:t>
            </a:r>
            <a:r>
              <a:rPr lang="en-US" dirty="0"/>
              <a:t>Recognition and Natural Language Processing Research Papers, Articles, </a:t>
            </a:r>
            <a:endParaRPr lang="en-US" dirty="0" smtClean="0"/>
          </a:p>
          <a:p>
            <a:r>
              <a:rPr lang="en-US" dirty="0" smtClean="0"/>
              <a:t>and </a:t>
            </a:r>
            <a:r>
              <a:rPr lang="en-US" dirty="0"/>
              <a:t>Technical Documentation consulted during project development.</a:t>
            </a:r>
            <a:endParaRPr lang="en-IN" dirty="0"/>
          </a:p>
        </p:txBody>
      </p:sp>
    </p:spTree>
    <p:extLst>
      <p:ext uri="{BB962C8B-B14F-4D97-AF65-F5344CB8AC3E}">
        <p14:creationId xmlns:p14="http://schemas.microsoft.com/office/powerpoint/2010/main"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5C18F4-90FF-869B-D16A-31F40314E23F}"/>
              </a:ext>
            </a:extLst>
          </p:cNvPr>
          <p:cNvSpPr>
            <a:spLocks noGrp="1"/>
          </p:cNvSpPr>
          <p:nvPr>
            <p:ph type="title"/>
          </p:nvPr>
        </p:nvSpPr>
        <p:spPr/>
        <p:txBody>
          <a:bodyPr/>
          <a:lstStyle/>
          <a:p>
            <a:r>
              <a:rPr lang="en-US" dirty="0" smtClean="0"/>
              <a:t>Deployment &amp; </a:t>
            </a:r>
            <a:r>
              <a:rPr lang="en-US" dirty="0" err="1" smtClean="0"/>
              <a:t>Github</a:t>
            </a:r>
            <a:r>
              <a:rPr lang="en-US" dirty="0" smtClean="0"/>
              <a:t> links :</a:t>
            </a:r>
            <a:endParaRPr lang="en-IN" dirty="0"/>
          </a:p>
        </p:txBody>
      </p:sp>
      <p:sp>
        <p:nvSpPr>
          <p:cNvPr id="3" name="Content Placeholder 2">
            <a:extLst>
              <a:ext uri="{FF2B5EF4-FFF2-40B4-BE49-F238E27FC236}">
                <a16:creationId xmlns="" xmlns:a16="http://schemas.microsoft.com/office/drawing/2014/main" id="{D728B4D2-2154-F20B-F64F-A6097D21B39F}"/>
              </a:ext>
            </a:extLst>
          </p:cNvPr>
          <p:cNvSpPr>
            <a:spLocks noGrp="1"/>
          </p:cNvSpPr>
          <p:nvPr>
            <p:ph idx="1"/>
          </p:nvPr>
        </p:nvSpPr>
        <p:spPr/>
        <p:txBody>
          <a:bodyPr/>
          <a:lstStyle/>
          <a:p>
            <a:r>
              <a:rPr lang="en-US" b="1" dirty="0" smtClean="0"/>
              <a:t>Live Demo Deployment Links :</a:t>
            </a:r>
            <a:endParaRPr lang="en-US" b="1" dirty="0"/>
          </a:p>
          <a:p>
            <a:pPr>
              <a:buFont typeface="Wingdings" pitchFamily="2" charset="2"/>
              <a:buChar char="§"/>
            </a:pPr>
            <a:r>
              <a:rPr lang="en-US" dirty="0" smtClean="0"/>
              <a:t> </a:t>
            </a:r>
            <a:r>
              <a:rPr lang="en-US" dirty="0" err="1" smtClean="0"/>
              <a:t>Streamlit</a:t>
            </a:r>
            <a:r>
              <a:rPr lang="en-US" dirty="0" smtClean="0"/>
              <a:t> </a:t>
            </a:r>
            <a:r>
              <a:rPr lang="en-US" dirty="0"/>
              <a:t>App: (</a:t>
            </a:r>
            <a:r>
              <a:rPr lang="en-US" u="sng" dirty="0">
                <a:hlinkClick r:id="rId2"/>
              </a:rPr>
              <a:t>https://scribexa-ai-edunet-ibm.streamlit.app/</a:t>
            </a:r>
            <a:r>
              <a:rPr lang="en-US" dirty="0"/>
              <a:t>)</a:t>
            </a:r>
          </a:p>
          <a:p>
            <a:pPr>
              <a:buFont typeface="Wingdings" pitchFamily="2" charset="2"/>
              <a:buChar char="§"/>
            </a:pPr>
            <a:r>
              <a:rPr lang="en-US" dirty="0" smtClean="0"/>
              <a:t> Landing </a:t>
            </a:r>
            <a:r>
              <a:rPr lang="en-US" dirty="0"/>
              <a:t>Page : (</a:t>
            </a:r>
            <a:r>
              <a:rPr lang="en-US" u="sng" dirty="0">
                <a:hlinkClick r:id="rId3"/>
              </a:rPr>
              <a:t>https://scribexa-ai-landing-page.lovable.app</a:t>
            </a:r>
            <a:r>
              <a:rPr lang="en-US" u="sng" dirty="0" smtClean="0">
                <a:hlinkClick r:id="rId3"/>
              </a:rPr>
              <a:t>/</a:t>
            </a:r>
            <a:r>
              <a:rPr lang="en-US" dirty="0" smtClean="0"/>
              <a:t>)</a:t>
            </a:r>
            <a:endParaRPr lang="en-US" dirty="0"/>
          </a:p>
          <a:p>
            <a:r>
              <a:rPr lang="en-US" dirty="0"/>
              <a:t> </a:t>
            </a:r>
            <a:r>
              <a:rPr lang="en-US" b="1" dirty="0" smtClean="0"/>
              <a:t>GitHub Repo Link :</a:t>
            </a:r>
          </a:p>
          <a:p>
            <a:r>
              <a:rPr lang="en-US" b="1" dirty="0" smtClean="0"/>
              <a:t> </a:t>
            </a:r>
            <a:r>
              <a:rPr lang="en-IN" dirty="0"/>
              <a:t>GitHub: </a:t>
            </a:r>
            <a:r>
              <a:rPr lang="en-IN" dirty="0"/>
              <a:t>(</a:t>
            </a:r>
            <a:r>
              <a:rPr lang="en-IN" dirty="0">
                <a:hlinkClick r:id="rId4"/>
              </a:rPr>
              <a:t>https://github.com/Shobhan-04/scribexa-ai-edunet-ibm</a:t>
            </a:r>
            <a:r>
              <a:rPr lang="en-IN" dirty="0"/>
              <a:t>)</a:t>
            </a:r>
            <a:endParaRPr lang="en-US" b="1" dirty="0" smtClean="0"/>
          </a:p>
        </p:txBody>
      </p:sp>
    </p:spTree>
    <p:extLst>
      <p:ext uri="{BB962C8B-B14F-4D97-AF65-F5344CB8AC3E}">
        <p14:creationId xmlns:p14="http://schemas.microsoft.com/office/powerpoint/2010/main" val="199590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b="1" dirty="0">
                <a:solidFill>
                  <a:srgbClr val="002060"/>
                </a:solidFill>
                <a:latin typeface="Arial" panose="020B0604020202020204" pitchFamily="34" charset="0"/>
                <a:cs typeface="Arial" panose="020B0604020202020204" pitchFamily="34" charset="0"/>
              </a:rPr>
              <a:t>THANK </a:t>
            </a:r>
            <a:r>
              <a:rPr lang="en-US" b="1" dirty="0" smtClean="0">
                <a:solidFill>
                  <a:srgbClr val="002060"/>
                </a:solidFill>
                <a:latin typeface="Arial" panose="020B0604020202020204" pitchFamily="34" charset="0"/>
                <a:cs typeface="Arial" panose="020B0604020202020204" pitchFamily="34" charset="0"/>
              </a:rPr>
              <a:t>YOU</a:t>
            </a:r>
            <a:endParaRPr lang="en-US" b="1"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purl.org/dc/dcmitype/"/>
    <ds:schemaRef ds:uri="http://schemas.microsoft.com/office/infopath/2007/PartnerControls"/>
    <ds:schemaRef ds:uri="http://schemas.microsoft.com/office/2006/documentManagement/types"/>
    <ds:schemaRef ds:uri="9162bd5b-4ed9-4da3-b376-05204580ba3f"/>
    <ds:schemaRef ds:uri="http://schemas.microsoft.com/office/2006/metadata/properties"/>
    <ds:schemaRef ds:uri="http://purl.org/dc/elements/1.1/"/>
    <ds:schemaRef ds:uri="c0fa2617-96bd-425d-8578-e93563fe37c5"/>
    <ds:schemaRef ds:uri="http://purl.org/dc/term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1690</TotalTime>
  <Words>994</Words>
  <Application>Microsoft Office PowerPoint</Application>
  <PresentationFormat>Custom</PresentationFormat>
  <Paragraphs>110</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Lecture VOICE-TO-NOTES GENERATOR</vt:lpstr>
      <vt:lpstr>OUTLINE</vt:lpstr>
      <vt:lpstr>Problem Statement</vt:lpstr>
      <vt:lpstr>Proposed Solution</vt:lpstr>
      <vt:lpstr>System  Approach</vt:lpstr>
      <vt:lpstr>Algorithm &amp; Deployment</vt:lpstr>
      <vt:lpstr>Result</vt:lpstr>
      <vt:lpstr>Result</vt:lpstr>
      <vt:lpstr>Result</vt:lpstr>
      <vt:lpstr>Result</vt:lpstr>
      <vt:lpstr>Conclusion</vt:lpstr>
      <vt:lpstr>PowerPoint Presentation</vt:lpstr>
      <vt:lpstr>References</vt:lpstr>
      <vt:lpstr>Deployment &amp; Github links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cp:lastModifiedBy>
  <cp:revision>48</cp:revision>
  <dcterms:created xsi:type="dcterms:W3CDTF">2021-05-26T16:50:10Z</dcterms:created>
  <dcterms:modified xsi:type="dcterms:W3CDTF">2026-06-18T03:49:27Z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